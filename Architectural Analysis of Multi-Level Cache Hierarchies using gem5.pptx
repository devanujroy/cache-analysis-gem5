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C75EF-2224-BD2E-BA97-D5CE47917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BBE524-9602-B305-0F8B-DD4409FDC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CC761-566D-CF1C-07AC-583F0B02E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EAACA-4AD0-4341-883F-612D7BFE8120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2D00F-A7BD-F9E0-E76F-A07B12D34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CF534-06FB-FBD1-9F7A-D71B7B482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742BB-E772-409F-876D-B80A24D7C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449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113C6-A621-ABA8-8F45-F27EA8AA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B46C6-E6FE-89B2-A013-62E5A073D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9D6E6-26C1-352E-7583-470443388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EAACA-4AD0-4341-883F-612D7BFE8120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4B45E-104C-4755-E369-9011C2B1B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A905E-F9DD-1C8A-EEE6-323B569E9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742BB-E772-409F-876D-B80A24D7C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56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9E23-B96B-01D2-DF67-713B456EB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06DDB-F690-A231-1866-A770C7AED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488D9-0641-C68B-6745-475A2422F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EAACA-4AD0-4341-883F-612D7BFE8120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0BD75-4FD1-3AEB-32EF-E6B0B82C6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27E55-1B48-100B-C8FE-EB123FE6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742BB-E772-409F-876D-B80A24D7C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31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09C38-BD2F-B58A-68A5-850776990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CE7E0-B3CC-CAA9-37C7-10A498A301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95FA2-3EA2-45DF-7DE2-8CE5221FC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409FC-C465-9B2D-0513-B36C72ED1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EAACA-4AD0-4341-883F-612D7BFE8120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25130-361F-1F45-BD20-C9AFA10FC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5D250-9EB4-DF5D-CFB8-772DBBAC5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742BB-E772-409F-876D-B80A24D7C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18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2AA35-FAAD-77B2-678F-2571C1208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9F77E-95E7-AA9E-BCD7-3D9418976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AED5C-9D11-BCF0-783F-DC0D948A6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12857C-1797-94B7-6834-34F7767846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23FF7-ED59-6DD9-0B60-6DD5F94DAD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48254A-B18A-7ED4-148E-1B745990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EAACA-4AD0-4341-883F-612D7BFE8120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983023-8C30-2A76-8F1B-C78970BB3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D913C8-86CD-9700-56A4-6C6466926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742BB-E772-409F-876D-B80A24D7C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47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0292-3924-B826-64C5-65FE1EA58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AE7D86-CE65-B6BF-2982-0E28A83A1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EAACA-4AD0-4341-883F-612D7BFE8120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B7152B-4CCF-F7B0-087A-DF69EF0DE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AE0F8-8B45-068C-CDD8-BFAC6F684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742BB-E772-409F-876D-B80A24D7C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066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CF13E9-25EA-8866-11BB-08D975BEA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EAACA-4AD0-4341-883F-612D7BFE8120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975A29-CC75-76C5-47A5-26499A2FE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15801-881C-7523-6F1A-821BFFDC0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742BB-E772-409F-876D-B80A24D7C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570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C6B87-EC0F-E740-217F-E62D046EC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03765-E50F-9FC8-BEB7-6414EDA29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E89D1-B54F-2409-7D56-15CF1EDE7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7A159-9A58-7011-AA83-9377318EC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EAACA-4AD0-4341-883F-612D7BFE8120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97125-5580-F15A-A0B0-6F6FE7388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8927B-A169-E5EC-61EE-81968F0CE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742BB-E772-409F-876D-B80A24D7C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00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DCBB7-AD63-AA4E-92C8-BA14601A6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33A79A-A147-DE72-08C5-23B3758B65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08257-676F-500E-35EE-FCB5BA4FB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C0BDC-A29B-B094-EAA3-6095998C9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EAACA-4AD0-4341-883F-612D7BFE8120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9346C-C6B6-7706-BBF4-10959826F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0CFDA-D0DA-B592-91BC-E25863144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742BB-E772-409F-876D-B80A24D7C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857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9E0E5-301D-3BC1-4BCB-416A7B978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EA9806-6828-4428-4F0D-8EB190D8D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BB465-6325-379B-39D3-6BFE7E602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EAACA-4AD0-4341-883F-612D7BFE8120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800EE-7862-B069-9D5D-5C9387BF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B5D96-AF37-32BB-091D-54CA22A0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742BB-E772-409F-876D-B80A24D7C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036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CD193E-1ACB-4932-7F9E-6626CC430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5410EF-273B-4565-FC00-DCB357E75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3A601-9F40-7838-7018-EC914AAF6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EAACA-4AD0-4341-883F-612D7BFE8120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7480E-209E-FB6A-719E-AD7A32785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AC15B-E128-F371-571C-F2FAAC4E2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742BB-E772-409F-876D-B80A24D7C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909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392234-1E8D-AE2D-DF1A-A58A8FCE8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92F0E-3551-68B9-094E-C56A3F8DB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0485E-BA03-42D9-8CDE-A02EDE0E5B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EAACA-4AD0-4341-883F-612D7BFE8120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AC2C5-CE47-A698-62B0-2930DB3974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B7F01-9381-2FF0-9343-1520735E0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742BB-E772-409F-876D-B80A24D7C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45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D9E34-B751-17B2-11C5-5E1007A52D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Architectural Analysis of Multi-Level Cache Hierarchies using gem5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40F7A5-F039-31F8-AFC2-4849EF99F20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73352" y="4061378"/>
            <a:ext cx="813816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Course: Computer Architecture (BEVD207L)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Members: Dhvanit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Ghadawala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(24BVD0004)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Devanuj Roy (24BVD0157)</a:t>
            </a:r>
          </a:p>
        </p:txBody>
      </p:sp>
    </p:spTree>
    <p:extLst>
      <p:ext uri="{BB962C8B-B14F-4D97-AF65-F5344CB8AC3E}">
        <p14:creationId xmlns:p14="http://schemas.microsoft.com/office/powerpoint/2010/main" val="1971423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371D9-3E8B-CEFF-3C40-936043523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6C874-2EBD-C053-810D-15A7E1E05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efficiency of the cache is a major bottleneck for overall program execution time.</a:t>
            </a:r>
          </a:p>
          <a:p>
            <a:r>
              <a:rPr lang="en-US" dirty="0"/>
              <a:t>Optimization is critical, as a poor configuration leads to wasted silicon area or degraded performance.</a:t>
            </a:r>
          </a:p>
          <a:p>
            <a:r>
              <a:rPr lang="en-US" dirty="0"/>
              <a:t>Since there is no "one size fits all" rule, design choices must be tailored to specific workloads.</a:t>
            </a:r>
          </a:p>
          <a:p>
            <a:r>
              <a:rPr lang="en-US" dirty="0"/>
              <a:t>We investigated the impact of cache size and associativity on CPI and miss rates within a 2-level hierarchy.</a:t>
            </a:r>
          </a:p>
          <a:p>
            <a:r>
              <a:rPr lang="en-US" dirty="0"/>
              <a:t>To get concrete data, we conducted an empirical study using the gem5 simulator.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223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344A3-27DC-941A-A81B-C558C11DC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Cache is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D9E90-88D7-62F9-6836-C20D38B5C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"Memory Wall": A significant performance gap exists between fast CPUs and slower main memory.</a:t>
            </a:r>
          </a:p>
          <a:p>
            <a:r>
              <a:rPr lang="en-US" dirty="0"/>
              <a:t>Impact of No Cache: Without caching, the CPU wastes operational time idling while waiting for data retrieval.</a:t>
            </a:r>
          </a:p>
          <a:p>
            <a:r>
              <a:rPr lang="en-US" dirty="0"/>
              <a:t>Level 1 (L1) Cache: Small, ultra-fast memory located directly on or near the CPU for immediate data access.</a:t>
            </a:r>
          </a:p>
          <a:p>
            <a:r>
              <a:rPr lang="en-US" dirty="0"/>
              <a:t>Level 2 (L2) Cache: Larger and slightly slower than L1, acting as a secondary data backup.</a:t>
            </a:r>
          </a:p>
          <a:p>
            <a:r>
              <a:rPr lang="en-US" dirty="0"/>
              <a:t>Reduced AMAT: This tiered hierarchy keeps frequently used data close to the processor, significantly lowering the Average Memory Access Time (AMAT).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168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90FFD-635A-16F9-2155-B66E5345A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Inclusion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C51DF-BD89-F0D8-7EE5-45AA43324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Inclusive Cache: L2 duplicates L1 data; this simplifies coherence protocols but wastes L2 storage space.</a:t>
            </a:r>
          </a:p>
          <a:p>
            <a:r>
              <a:rPr lang="en-IN" dirty="0"/>
              <a:t>Exclusive Cache: L2 only holds data evicted from L1; this maximizes effective capacity but increases system complexity.</a:t>
            </a:r>
          </a:p>
          <a:p>
            <a:r>
              <a:rPr lang="en-IN" dirty="0"/>
              <a:t>Default Configuration: Our baseline setup utilizes gem5's inclusive L2 policy.</a:t>
            </a:r>
          </a:p>
          <a:p>
            <a:r>
              <a:rPr lang="en-IN" dirty="0"/>
              <a:t>Size Analysis: We investigated how modifying cache sizes impacts the </a:t>
            </a:r>
            <a:r>
              <a:rPr lang="en-IN" dirty="0" err="1"/>
              <a:t>tradeoff</a:t>
            </a:r>
            <a:r>
              <a:rPr lang="en-IN" dirty="0"/>
              <a:t> between these two policies.</a:t>
            </a:r>
          </a:p>
        </p:txBody>
      </p:sp>
    </p:spTree>
    <p:extLst>
      <p:ext uri="{BB962C8B-B14F-4D97-AF65-F5344CB8AC3E}">
        <p14:creationId xmlns:p14="http://schemas.microsoft.com/office/powerpoint/2010/main" val="1885944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B16E3-2657-425C-2E45-7A668A1B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We Actually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7B8EB-EE1A-A2F6-B4E6-67922D9B2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 a two-level cache system using gem5 (two_level.py)</a:t>
            </a:r>
          </a:p>
          <a:p>
            <a:r>
              <a:rPr lang="en-US" dirty="0"/>
              <a:t>Ran a simple "Hello World" test binary on X86 </a:t>
            </a:r>
            <a:r>
              <a:rPr lang="en-US" dirty="0" err="1"/>
              <a:t>TimingSimpleCPU</a:t>
            </a:r>
            <a:endParaRPr lang="en-US" dirty="0"/>
          </a:p>
          <a:p>
            <a:r>
              <a:rPr lang="en-US" dirty="0"/>
              <a:t>Experiment 1: Changed L2 cache size (256KB vs 512KB)</a:t>
            </a:r>
          </a:p>
          <a:p>
            <a:r>
              <a:rPr lang="en-US" dirty="0"/>
              <a:t>Experiment 2: Changed L2 associativity (2-way, 4-way, 8-way)</a:t>
            </a:r>
          </a:p>
          <a:p>
            <a:r>
              <a:rPr lang="en-US" dirty="0"/>
              <a:t>Collected CPI and L1/L2 miss rates from stats.txt for each run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9385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AF73A-36EB-C60B-5B3B-7702ACF06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D44E3-6DA8-57B6-78DB-87B1B1CC9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Architecture Flow: CPU → L1 (I/D-Caches) → L2 Bus (</a:t>
            </a:r>
            <a:r>
              <a:rPr lang="en-IN" dirty="0" err="1"/>
              <a:t>XBar</a:t>
            </a:r>
            <a:r>
              <a:rPr lang="en-IN" dirty="0"/>
              <a:t>) → L2 Cache → Memory Bus → DDR3 RAM.</a:t>
            </a:r>
          </a:p>
          <a:p>
            <a:r>
              <a:rPr lang="en-IN" dirty="0"/>
              <a:t>CPU Configuration: X86TimingSimpleCPU operating at 1 GHz.</a:t>
            </a:r>
          </a:p>
          <a:p>
            <a:r>
              <a:rPr lang="en-IN" dirty="0"/>
              <a:t>L1 Cache: Separate instruction and data caches linked directly to CPU ports.</a:t>
            </a:r>
          </a:p>
          <a:p>
            <a:r>
              <a:rPr lang="en-IN" dirty="0"/>
              <a:t>L2 Cache: Interconnected using an L2XBar crossbar.</a:t>
            </a:r>
          </a:p>
          <a:p>
            <a:r>
              <a:rPr lang="en-IN" dirty="0"/>
              <a:t>Main Memory: DDR3_1600_8x8 configuration with a 512MB address range.</a:t>
            </a:r>
          </a:p>
        </p:txBody>
      </p:sp>
    </p:spTree>
    <p:extLst>
      <p:ext uri="{BB962C8B-B14F-4D97-AF65-F5344CB8AC3E}">
        <p14:creationId xmlns:p14="http://schemas.microsoft.com/office/powerpoint/2010/main" val="3776857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C7AAD7-4F00-FBCB-5332-05C2A0A6F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860" y="774546"/>
            <a:ext cx="7285351" cy="2080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98D8A4-9385-140C-1460-FC742D9F3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860" y="4168096"/>
            <a:ext cx="7239627" cy="129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15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9F65-0272-C0C3-8FCD-AE6F3226A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Cache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4B1EB-A6A4-4412-E939-6EA453BE7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L1 Instruction Cache: 16KB capacity, 2-way set associative, with 2-cycle tag and data latencies.</a:t>
            </a:r>
          </a:p>
          <a:p>
            <a:r>
              <a:rPr lang="en-US" dirty="0"/>
              <a:t>L1 Data Cache: 64KB capacity, 2-way set associative, with 2-cycle tag and data latencies.</a:t>
            </a:r>
          </a:p>
          <a:p>
            <a:r>
              <a:rPr lang="en-US" dirty="0"/>
              <a:t>L2 Cache Parameters: Evaluated across variable sizes (256KB, 512KB) and </a:t>
            </a:r>
            <a:r>
              <a:rPr lang="en-US" dirty="0" err="1"/>
              <a:t>associativities</a:t>
            </a:r>
            <a:r>
              <a:rPr lang="en-US" dirty="0"/>
              <a:t> (2-way, 4-way, 8-way).</a:t>
            </a:r>
          </a:p>
          <a:p>
            <a:r>
              <a:rPr lang="en-US" dirty="0"/>
              <a:t>L2 Default Latencies: Configured at 20 cycles each for tag, data, and response.</a:t>
            </a:r>
          </a:p>
          <a:p>
            <a:r>
              <a:rPr lang="en-US" dirty="0"/>
              <a:t>Queue Configuration: 20 Miss Status Holding Registers (MSHRs) allowing up to 12 targets per MSHR.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9004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DFEA5-1E4E-50DA-4783-F8C3EE025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Experiment 1 — Cache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02AEA-1110-F6CF-315D-3A1E73D37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Changed L2 cache size: 256KB vs 512KB</a:t>
            </a:r>
          </a:p>
          <a:p>
            <a:r>
              <a:rPr lang="en-IN" dirty="0"/>
              <a:t>All other parameters kept constant (</a:t>
            </a:r>
            <a:r>
              <a:rPr lang="en-IN" dirty="0" err="1"/>
              <a:t>assoc</a:t>
            </a:r>
            <a:r>
              <a:rPr lang="en-IN" dirty="0"/>
              <a:t> = 8)</a:t>
            </a:r>
          </a:p>
          <a:p>
            <a:r>
              <a:rPr lang="en-IN" dirty="0"/>
              <a:t>Hypothesis: larger L2 should reduce miss rate and improve CPI</a:t>
            </a:r>
          </a:p>
          <a:p>
            <a:r>
              <a:rPr lang="en-IN" dirty="0"/>
              <a:t>Config changed in L2Cache class in caches.py</a:t>
            </a:r>
          </a:p>
          <a:p>
            <a:r>
              <a:rPr lang="en-IN" dirty="0"/>
              <a:t>Ran two separate simulations, compared stats.txt outputs</a:t>
            </a:r>
          </a:p>
        </p:txBody>
      </p:sp>
    </p:spTree>
    <p:extLst>
      <p:ext uri="{BB962C8B-B14F-4D97-AF65-F5344CB8AC3E}">
        <p14:creationId xmlns:p14="http://schemas.microsoft.com/office/powerpoint/2010/main" val="4000511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18A8812-4AD3-1B75-760B-424D05EA69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825" y="603504"/>
            <a:ext cx="5121667" cy="219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627E95-810A-5094-893A-6F109C740A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304" y="3276507"/>
            <a:ext cx="5013960" cy="2575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179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795A3-9722-7061-0EBB-8CD280967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— Cache Size (CPI + Miss Rate)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28C2D-C0CF-1348-CD94-30DF1FB63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L1 D-Cache Performance: The miss rate remained constant at 0.007861, as expected since L1 parameters were unmodified.</a:t>
            </a:r>
          </a:p>
          <a:p>
            <a:r>
              <a:rPr lang="en-US" dirty="0"/>
              <a:t>L2 Miss Rate Reduction: Increasing the L2 size yielded a dramatic drop in miss rate, falling from 0.999316 (at 256KB) to 0.027139 (at 512KB).</a:t>
            </a:r>
          </a:p>
          <a:p>
            <a:r>
              <a:rPr lang="en-US" dirty="0"/>
              <a:t>CPI Improvement: Cycles Per Instruction (CPI) improved by approximately 9%, decreasing from 4.579511 to 4.148587 with the larger L2 cache.</a:t>
            </a:r>
          </a:p>
          <a:p>
            <a:r>
              <a:rPr lang="en-US" dirty="0"/>
              <a:t>Key Conclusion: Doubling the L2 capacity successfully mitigated L2 cache misses and boosted overall system performance without impacting L1 behavior.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1705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50D887-856C-36B1-E81E-19205947B1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42416"/>
            <a:ext cx="10515600" cy="9736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D954B7-32F1-106C-E5BD-C4BB0584FA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38884"/>
            <a:ext cx="10515600" cy="123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208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98522-A183-F3F4-C63D-A5499CDC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Experiment 2 — 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7D787-544F-57AF-2807-99C73EAF5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Experimental Variables: Kept the L2 size fixed at 512KB while varying associativity across 2-way, 4-way, and 8-way configurations.</a:t>
            </a:r>
          </a:p>
          <a:p>
            <a:r>
              <a:rPr lang="en-US" dirty="0"/>
              <a:t>Role of Associativity: Dictates the number of cache lines that can be stored within a specific cache set.</a:t>
            </a:r>
          </a:p>
          <a:p>
            <a:r>
              <a:rPr lang="en-US" dirty="0"/>
              <a:t>Hypothesis: Increasing associativity from 2-way to 8-way will decrease the frequency of conflict misses.</a:t>
            </a:r>
          </a:p>
          <a:p>
            <a:r>
              <a:rPr lang="en-US" dirty="0"/>
              <a:t>Implementation: Configuration changes were executed using the --l2_assoc flag within the two_level.py script.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7627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B44CE-4D7E-A2F9-07B7-F0D2568F5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— Associativity (Miss Rate)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25FFF-CC4F-DA03-BFF9-E18B187EA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L2 Miss Rate Trends: The miss rate decreased significantly when moving from 2-way (0.981769) to 4-way (0.913847) associativity, but plateaued at 8-way (0.913678).</a:t>
            </a:r>
          </a:p>
          <a:p>
            <a:r>
              <a:rPr lang="en-US" dirty="0"/>
              <a:t>CPI Trajectory: Cycles Per Instruction (CPI) mirrored this trend, improving from 4.788218 (2-way) to 4.747729 (4-way), with negligible further gains at 8-way (4.747693).</a:t>
            </a:r>
          </a:p>
          <a:p>
            <a:r>
              <a:rPr lang="en-US" dirty="0"/>
              <a:t>Conflict Miss Resolution: The substantial performance jump between 2-way and 4-way indicates that a 4-way setup resolves the majority of conflict misses.</a:t>
            </a:r>
          </a:p>
          <a:p>
            <a:r>
              <a:rPr lang="en-US" dirty="0"/>
              <a:t>Diminishing Returns: For this specific workload, increasing associativity beyond 4-way yields minimal additional performance benefits.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0580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F1107D-C733-E1FA-2D25-7E21549A38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544" y="1581912"/>
            <a:ext cx="10416911" cy="369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984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6A027-A995-545E-54A0-EC7B72D28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6413F-B584-B07A-16C6-A7C8648CC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Impact of Cache Size: Cache capacity has the most significant influence on system performance, as undersized caches result in near-total miss rates.</a:t>
            </a:r>
          </a:p>
          <a:p>
            <a:r>
              <a:rPr lang="en-US" dirty="0"/>
              <a:t> Associativity Scaling: Increasing associativity provided substantial benefits at lower values (transitioning from 2-way to 4-way), but yields diminishing returns beyond that threshold.</a:t>
            </a:r>
          </a:p>
          <a:p>
            <a:r>
              <a:rPr lang="en-US" dirty="0"/>
              <a:t>L1 Cache Stability: The L1 miss rate remained strictly identical across all experimental runs, confirming that the primary L1 cache was not the system bottleneck.</a:t>
            </a:r>
          </a:p>
          <a:p>
            <a:r>
              <a:rPr lang="en-US" dirty="0"/>
              <a:t>CPI Correlation: Cycles Per Instruction (CPI) closely tracks the L2 miss rate, demonstrating that memory access stalls are the dominant factor in execution runtime.</a:t>
            </a:r>
          </a:p>
          <a:p>
            <a:r>
              <a:rPr lang="en-US" dirty="0"/>
              <a:t>Workload Sensitivity: Even basic, simple workloads exhibit clear and measurable performance degradation trends when subjected to undersized cache configurations.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1963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45E1F-0F88-D600-0641-442F21A9E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4FE05-7928-DC88-A9AF-17C029167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Cache size is the most critical parameter for miss rate and CPI</a:t>
            </a:r>
          </a:p>
          <a:p>
            <a:r>
              <a:rPr lang="en-US" dirty="0"/>
              <a:t>Doubling L2 from 256KB → 512KB cut miss rate from ~99% to ~2.7%</a:t>
            </a:r>
          </a:p>
          <a:p>
            <a:r>
              <a:rPr lang="en-US" dirty="0"/>
              <a:t>Associativity improvements plateau beyond 4-way for simple workloads</a:t>
            </a:r>
          </a:p>
          <a:p>
            <a:r>
              <a:rPr lang="en-US" dirty="0"/>
              <a:t>gem5 is effective for validating architectural decisions before hardware</a:t>
            </a:r>
          </a:p>
          <a:p>
            <a:r>
              <a:rPr lang="en-US" dirty="0"/>
              <a:t>Inclusion policy amplifies the effect of size — smaller inclusive caches hurt more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1697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D5373-B4A7-C0D3-F127-0466D32B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74E51-6AAD-126E-A38F-50E7F69A0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Test with memory-intensive benchmarks (matrix multiply, sorting)</a:t>
            </a:r>
          </a:p>
          <a:p>
            <a:r>
              <a:rPr lang="en-IN" dirty="0"/>
              <a:t>Implement explicit exclusive L2 and compare directly with inclusive</a:t>
            </a:r>
          </a:p>
          <a:p>
            <a:r>
              <a:rPr lang="en-IN" dirty="0"/>
              <a:t>Vary L1 size to study L1 vs L2 </a:t>
            </a:r>
            <a:r>
              <a:rPr lang="en-IN" dirty="0" err="1"/>
              <a:t>tradeoffs</a:t>
            </a:r>
            <a:endParaRPr lang="en-IN" dirty="0"/>
          </a:p>
          <a:p>
            <a:r>
              <a:rPr lang="en-IN" dirty="0"/>
              <a:t>Explore different replacement policies (LRU vs Random vs FIFO)</a:t>
            </a:r>
          </a:p>
          <a:p>
            <a:r>
              <a:rPr lang="en-IN" dirty="0"/>
              <a:t>Extend to multi-core setup and study cache coherence overhead</a:t>
            </a:r>
          </a:p>
        </p:txBody>
      </p:sp>
    </p:spTree>
    <p:extLst>
      <p:ext uri="{BB962C8B-B14F-4D97-AF65-F5344CB8AC3E}">
        <p14:creationId xmlns:p14="http://schemas.microsoft.com/office/powerpoint/2010/main" val="3769719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1135</Words>
  <Application>Microsoft Office PowerPoint</Application>
  <PresentationFormat>Widescreen</PresentationFormat>
  <Paragraphs>79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Architectural Analysis of Multi-Level Cache Hierarchies using gem5</vt:lpstr>
      <vt:lpstr>Problem Statement</vt:lpstr>
      <vt:lpstr>Why Cache is Needed</vt:lpstr>
      <vt:lpstr>Inclusion Concept</vt:lpstr>
      <vt:lpstr>What We Actually Implemented</vt:lpstr>
      <vt:lpstr>System Design</vt:lpstr>
      <vt:lpstr>PowerPoint Presentation</vt:lpstr>
      <vt:lpstr>Cache Parameters</vt:lpstr>
      <vt:lpstr>Experiment 1 — Cache Size</vt:lpstr>
      <vt:lpstr>PowerPoint Presentation</vt:lpstr>
      <vt:lpstr>Results — Cache Size (CPI + Miss Rate)</vt:lpstr>
      <vt:lpstr>PowerPoint Presentation</vt:lpstr>
      <vt:lpstr>Experiment 2 — Associativity</vt:lpstr>
      <vt:lpstr>Results — Associativity (Miss Rate)</vt:lpstr>
      <vt:lpstr>PowerPoint Presentation</vt:lpstr>
      <vt:lpstr>Key Observations</vt:lpstr>
      <vt:lpstr>Conclusion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Devanuj Roy</dc:creator>
  <cp:lastModifiedBy>Devanuj Roy</cp:lastModifiedBy>
  <cp:revision>1</cp:revision>
  <dcterms:created xsi:type="dcterms:W3CDTF">2026-04-16T19:38:33Z</dcterms:created>
  <dcterms:modified xsi:type="dcterms:W3CDTF">2026-04-16T19:38:38Z</dcterms:modified>
</cp:coreProperties>
</file>